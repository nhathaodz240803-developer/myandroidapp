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 đầu giới thiệu tổng quan về app Note Manager Android sử dụng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app theo mô hình phân lớp: UI → Activity → ContentProvider → Service →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2A5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40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Development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92024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Manager — Java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920240" y="2057400"/>
            <a:ext cx="676656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2240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toàn diện về 4 thành phần cốt lõi: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2926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84048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9260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76072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9260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60720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68096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9260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0960" y="34747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tổng quan — Note Manager App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914400" y="914400"/>
            <a:ext cx="7315200" cy="658368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9509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2435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FirstFragment  •  SecondFragment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26280" y="1572768"/>
            <a:ext cx="0" cy="11887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91640"/>
            <a:ext cx="7315200" cy="658368"/>
          </a:xfrm>
          <a:prstGeom prst="roundRect">
            <a:avLst>
              <a:gd name="adj" fmla="val 13889"/>
            </a:avLst>
          </a:prstGeom>
          <a:solidFill>
            <a:srgbClr val="28359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43000" y="1728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20208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 (Navigation host)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2350008"/>
            <a:ext cx="0" cy="11887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468880"/>
            <a:ext cx="7315200" cy="658368"/>
          </a:xfrm>
          <a:prstGeom prst="roundRect">
            <a:avLst>
              <a:gd name="adj" fmla="val 13889"/>
            </a:avLst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143000" y="25054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" y="2798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  →  NoteProvider.java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3127248"/>
            <a:ext cx="0" cy="11887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3246120"/>
            <a:ext cx="7315200" cy="658368"/>
          </a:xfrm>
          <a:prstGeom prst="roundRect">
            <a:avLst>
              <a:gd name="adj" fmla="val 13889"/>
            </a:avLst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143000" y="3282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35753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→  NoteService.java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3904488"/>
            <a:ext cx="0" cy="11887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4023360"/>
            <a:ext cx="7315200" cy="658368"/>
          </a:xfrm>
          <a:prstGeom prst="roundRect">
            <a:avLst>
              <a:gd name="adj" fmla="val 13889"/>
            </a:avLst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43000" y="40599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4352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•  SharedPreferences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thư mục Project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0352" y="1179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manifests/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0664" y="1472184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1490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AndroidManifest.xml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6344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sửa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30352" y="1801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java/com.example.myapplication/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" y="2093976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112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MainActivity.java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2112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sửa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0664" y="2404872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2423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FirstFragment.java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6344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sửa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0664" y="2715768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2734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SecondFragment.java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63440" y="2734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sửa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0664" y="3026664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DatabaseHelper.java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663440" y="3044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mới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40664" y="3337560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" y="3355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NoteProvider.java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63440" y="3355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mới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40664" y="3648456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27" name="Text 24"/>
          <p:cNvSpPr/>
          <p:nvPr/>
        </p:nvSpPr>
        <p:spPr>
          <a:xfrm>
            <a:off x="786384" y="3666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NoteService.java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663440" y="3666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mới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30352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res/layout/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0664" y="4270248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</p:sp>
      <p:sp>
        <p:nvSpPr>
          <p:cNvPr id="31" name="Text 28"/>
          <p:cNvSpPr/>
          <p:nvPr/>
        </p:nvSpPr>
        <p:spPr>
          <a:xfrm>
            <a:off x="786384" y="4288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fragment_first.xml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663440" y="4288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sửa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0664" y="4581144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</p:sp>
      <p:sp>
        <p:nvSpPr>
          <p:cNvPr id="34" name="Text 31"/>
          <p:cNvSpPr/>
          <p:nvPr/>
        </p:nvSpPr>
        <p:spPr>
          <a:xfrm>
            <a:off x="786384" y="4599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fragment_second.xml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663440" y="4599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sửa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69280" y="914400"/>
            <a:ext cx="3200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 thích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852160" y="141732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E8F5E9"/>
          </a:solidFill>
          <a:ln/>
        </p:spPr>
      </p:sp>
      <p:sp>
        <p:nvSpPr>
          <p:cNvPr id="39" name="Text 36"/>
          <p:cNvSpPr/>
          <p:nvPr/>
        </p:nvSpPr>
        <p:spPr>
          <a:xfrm>
            <a:off x="598932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File tạo mới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852160" y="187452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FFF8E1"/>
          </a:solidFill>
          <a:ln/>
        </p:spPr>
      </p:sp>
      <p:sp>
        <p:nvSpPr>
          <p:cNvPr id="41" name="Text 38"/>
          <p:cNvSpPr/>
          <p:nvPr/>
        </p:nvSpPr>
        <p:spPr>
          <a:xfrm>
            <a:off x="5989320" y="1901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File cần sửa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852160" y="233172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F7FAFF"/>
          </a:solidFill>
          <a:ln/>
        </p:spPr>
      </p:sp>
      <p:sp>
        <p:nvSpPr>
          <p:cNvPr id="43" name="Text 40"/>
          <p:cNvSpPr/>
          <p:nvPr/>
        </p:nvSpPr>
        <p:spPr>
          <a:xfrm>
            <a:off x="598932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Thư mục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669280" y="31089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94360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649224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tạo mới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943600" y="4114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9" name="Text 46"/>
          <p:cNvSpPr/>
          <p:nvPr/>
        </p:nvSpPr>
        <p:spPr>
          <a:xfrm>
            <a:off x="64922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cần sửa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— Lưu dữ liệu đơn giản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229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877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gì?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dữ liệu dạng key-value (khóa-giá trị) dưới dạng file XML trên bộ nhớ thiết bị. Dữ liệu tồn tại ngay cả khi đóng app.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1945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1945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khi nào?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06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tên người dùng, cài đặt app, trạng thái đăng nhập, theme, ngôn ngữ — bất kỳ dữ liệu nhỏ nào cần nhớ.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5661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56616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app này?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tên người dùng (KEY_USERNAME). Khi mở lại app, tên vẫn được hiển thị trong FirstFragment.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82296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1E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code — FirstFragment.java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00600" y="1261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Khởi tạo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00600" y="14859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SharedPreferences prefs =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00600" y="17099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getSharedPreferences("MyAppPrefs",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00600" y="19339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Context.MODE_PRIVATE);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00600" y="21579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00600" y="23820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Lưu dữ liệu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0060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prefs.edit()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00600" y="28300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.putString("username", name)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00600" y="3054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.apply();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00600" y="32781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00600" y="3502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Đọc dữ liệu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800600" y="37261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prefs.getString(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00600" y="39502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"username", "");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SQLite &amp; DatabaseHelper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22960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4A148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877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Bảng: notes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234440"/>
            <a:ext cx="3200400" cy="621792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PK AUTO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1344168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D500F9"/>
          </a:solidFill>
          <a:ln/>
        </p:spPr>
      </p:sp>
      <p:sp>
        <p:nvSpPr>
          <p:cNvPr id="12" name="Text 9"/>
          <p:cNvSpPr/>
          <p:nvPr/>
        </p:nvSpPr>
        <p:spPr>
          <a:xfrm>
            <a:off x="2788920" y="13716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1892808"/>
            <a:ext cx="3200400" cy="621792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203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" y="2551176"/>
            <a:ext cx="3200400" cy="621792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615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862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thao tác CRUD: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3886200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2004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0040" y="4251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insertNote(title, content)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417320" y="3886200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41732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417320" y="4251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getAllNotes() → Cursor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514600" y="3886200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514600" y="3950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514600" y="4251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deleteNote(id)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749040" y="822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1E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931920" y="914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DatabaseHelper.java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886200" y="121615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DatabaseHelper extends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3886200" y="1392631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SQLiteOpenHelper {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3886200" y="156911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3886200" y="174559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Tạo bảng khi lần đầu cài app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3886200" y="192206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onCreate(SQLiteDatabase db) {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3886200" y="20985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db.execSQL("CREATE TABLE notes (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3886200" y="2275027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_id INTEGER PRIMARY KEY,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3886200" y="245150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 TEXT, content TEXT)");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3886200" y="262798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886200" y="2804465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3886200" y="298094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Thêm ghi chú mới</a:t>
            </a:r>
            <a:endParaRPr lang="en-US" sz="880" dirty="0"/>
          </a:p>
        </p:txBody>
      </p:sp>
      <p:sp>
        <p:nvSpPr>
          <p:cNvPr id="42" name="Text 39"/>
          <p:cNvSpPr/>
          <p:nvPr/>
        </p:nvSpPr>
        <p:spPr>
          <a:xfrm>
            <a:off x="3886200" y="3157423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long insertNote(String title,</a:t>
            </a:r>
            <a:endParaRPr lang="en-US" sz="880" dirty="0"/>
          </a:p>
        </p:txBody>
      </p:sp>
      <p:sp>
        <p:nvSpPr>
          <p:cNvPr id="43" name="Text 40"/>
          <p:cNvSpPr/>
          <p:nvPr/>
        </p:nvSpPr>
        <p:spPr>
          <a:xfrm>
            <a:off x="3886200" y="333390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String content) {</a:t>
            </a:r>
            <a:endParaRPr lang="en-US" sz="880" dirty="0"/>
          </a:p>
        </p:txBody>
      </p:sp>
      <p:sp>
        <p:nvSpPr>
          <p:cNvPr id="44" name="Text 41"/>
          <p:cNvSpPr/>
          <p:nvPr/>
        </p:nvSpPr>
        <p:spPr>
          <a:xfrm>
            <a:off x="3886200" y="351038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ContentValues v = new ContentValues();</a:t>
            </a:r>
            <a:endParaRPr lang="en-US" sz="880" dirty="0"/>
          </a:p>
        </p:txBody>
      </p:sp>
      <p:sp>
        <p:nvSpPr>
          <p:cNvPr id="45" name="Text 42"/>
          <p:cNvSpPr/>
          <p:nvPr/>
        </p:nvSpPr>
        <p:spPr>
          <a:xfrm>
            <a:off x="3886200" y="3686861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v.put("title", title);</a:t>
            </a:r>
            <a:endParaRPr lang="en-US" sz="880" dirty="0"/>
          </a:p>
        </p:txBody>
      </p:sp>
      <p:sp>
        <p:nvSpPr>
          <p:cNvPr id="46" name="Text 43"/>
          <p:cNvSpPr/>
          <p:nvPr/>
        </p:nvSpPr>
        <p:spPr>
          <a:xfrm>
            <a:off x="3886200" y="38633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db.insert(TABLE_NOTES, null, v);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3886200" y="403981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 — Chia sẻ &amp; truy cập dữ liệu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868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03120" y="1344168"/>
            <a:ext cx="6400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4884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68880" y="86868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558B2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68880" y="868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344168"/>
            <a:ext cx="6400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86868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868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1344168"/>
            <a:ext cx="64008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234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0" y="86868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0" y="8686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201168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E0F2F1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URI: 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2121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content://com.example.myapplication.provider/notes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phương thức của ContentProvider: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3127248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7432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query()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7432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danh sách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68880" y="3127248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46888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46888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ghi chú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vào DB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3127248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66344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delete()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66344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ghi chú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ID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58000" y="3127248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5800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update()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(mở rộng)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— Xử lý tác vụ nền (Background)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đời (Lifecycle) của Service: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52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onCreate()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4904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— tạo Notification Channel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31720" y="1783080"/>
            <a:ext cx="0" cy="100584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883664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1947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onStartCommand()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185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lệnh — bắt đầu task backup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31720" y="2478024"/>
            <a:ext cx="0" cy="100584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2578608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2642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chạy nền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2880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riêng — không block UI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331720" y="3172968"/>
            <a:ext cx="0" cy="100584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3273552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sendBroadcast()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575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hoàn thành → Fragment nhận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331720" y="3867912"/>
            <a:ext cx="0" cy="100584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968496"/>
            <a:ext cx="4023360" cy="594360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4032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stopSelf()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270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dừng khi xong việc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63440" y="822960"/>
            <a:ext cx="4206240" cy="2606040"/>
          </a:xfrm>
          <a:prstGeom prst="roundRect">
            <a:avLst>
              <a:gd name="adj" fmla="val 4211"/>
            </a:avLst>
          </a:prstGeom>
          <a:solidFill>
            <a:srgbClr val="1E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4632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NoteService.java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00600" y="12161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onStartCommand(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800600" y="13990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 intent, int flags, int id) {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4800600" y="15819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startForeground(1, notification);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4800600" y="17647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("BACKUP".equals(action)) {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4800600" y="19476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Thread(() -&gt; {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4800600" y="2130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... backup logic ...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4800600" y="2313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sendBroadcast(doneIntent);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4800600" y="24963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stopSelf();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4800600" y="2679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}).start();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4800600" y="28620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480060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START_NOT_STICKY;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4800600" y="3227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4663440" y="352044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Lưu ý quan trọng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4632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FOREGROUND_SERVICE permission bắt buộc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POST_NOTIFICATIONS cần xin trên Android 13+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846320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foregroundServiceType="dataSync" trong Manifest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 — Đăng ký thành phần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E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914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2161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&lt;manifest ...&gt;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11480" y="13761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Permissions --&gt;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1480" y="15361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&lt;uses-permission android:name=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16962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"android.permission.FOREGROUND_SERVICE"/&gt;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" y="18562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&lt;uses-permission android:name=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11480" y="20162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"android.permission.POST_NOTIFICATIONS"/&gt;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1762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23362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&lt;application ...&gt;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1480" y="24963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&lt;activity android:name=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1480" y="26563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".MainActivity" .../&gt;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1480" y="28163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11480" y="29763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ContentProvider --&gt;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1480" y="3136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&lt;provider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1480" y="32964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android:name=".NoteProvider"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11480" y="34564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android:authorities="...provider"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36164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android:exported="false"/&gt;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37764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1480" y="39364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Service --&gt;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11480" y="40965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&lt;service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11480" y="42565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android:name=".NoteService"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11480" y="44165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android:exported="false"/&gt;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5765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&lt;/application&gt;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11480" y="47365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&lt;/manifest&gt;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77840" y="822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từng mục trong Manifest: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577840" y="12344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77840" y="1234440"/>
            <a:ext cx="1005840" cy="777240"/>
          </a:xfrm>
          <a:prstGeom prst="roundRect">
            <a:avLst>
              <a:gd name="adj" fmla="val 11765"/>
            </a:avLst>
          </a:prstGeom>
          <a:solidFill>
            <a:srgbClr val="1565C0"/>
          </a:solidFill>
          <a:ln/>
        </p:spPr>
      </p:sp>
      <p:sp>
        <p:nvSpPr>
          <p:cNvPr id="33" name="Text 30"/>
          <p:cNvSpPr/>
          <p:nvPr/>
        </p:nvSpPr>
        <p:spPr>
          <a:xfrm>
            <a:off x="5577840" y="12344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675120" y="12984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chính, phải có exported=true nếu là MAIN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57784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577840" y="2148840"/>
            <a:ext cx="1005840" cy="777240"/>
          </a:xfrm>
          <a:prstGeom prst="roundRect">
            <a:avLst>
              <a:gd name="adj" fmla="val 11765"/>
            </a:avLst>
          </a:prstGeom>
          <a:solidFill>
            <a:srgbClr val="00695C"/>
          </a:solidFill>
          <a:ln/>
        </p:spPr>
      </p:sp>
      <p:sp>
        <p:nvSpPr>
          <p:cNvPr id="37" name="Text 34"/>
          <p:cNvSpPr/>
          <p:nvPr/>
        </p:nvSpPr>
        <p:spPr>
          <a:xfrm>
            <a:off x="5577840" y="2148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67512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ContentProvider với authorities (địa chỉ URI)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577840" y="30632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577840" y="3063240"/>
            <a:ext cx="1005840" cy="777240"/>
          </a:xfrm>
          <a:prstGeom prst="roundRect">
            <a:avLst>
              <a:gd name="adj" fmla="val 11765"/>
            </a:avLst>
          </a:prstGeom>
          <a:solidFill>
            <a:srgbClr val="B71C1C"/>
          </a:solidFill>
          <a:ln/>
        </p:spPr>
      </p:sp>
      <p:sp>
        <p:nvSpPr>
          <p:cNvPr id="41" name="Text 38"/>
          <p:cNvSpPr/>
          <p:nvPr/>
        </p:nvSpPr>
        <p:spPr>
          <a:xfrm>
            <a:off x="557784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675120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Service nền, thêm foregroundServiceType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577840" y="39776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577840" y="3977640"/>
            <a:ext cx="1005840" cy="777240"/>
          </a:xfrm>
          <a:prstGeom prst="roundRect">
            <a:avLst>
              <a:gd name="adj" fmla="val 11765"/>
            </a:avLst>
          </a:prstGeom>
          <a:solidFill>
            <a:srgbClr val="E65100"/>
          </a:solidFill>
          <a:ln/>
        </p:spPr>
      </p:sp>
      <p:sp>
        <p:nvSpPr>
          <p:cNvPr id="45" name="Text 42"/>
          <p:cNvSpPr/>
          <p:nvPr/>
        </p:nvSpPr>
        <p:spPr>
          <a:xfrm>
            <a:off x="5577840" y="3977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675120" y="40416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quyền FOREGROUND_SERVICE &amp; NOTIFICATION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 — Cách 4 thành phần phối hợp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2880" y="91440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82880" y="914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nhập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/ ghi chú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91440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28359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194560" y="914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FirstFragment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8686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(tên người dùng)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06240" y="187452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06240" y="1874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ContentResolver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.insert(URI, data)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06240" y="28803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06240" y="2880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NoteProvider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(ContentProvider)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06240" y="38404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3840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DatabaseHelper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21945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B71C1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2194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(Backup nền)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66560" y="32004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0" y="3200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→ Fragment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920240" y="1298448"/>
            <a:ext cx="25603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31920" y="1161288"/>
            <a:ext cx="25603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31920" y="1435608"/>
            <a:ext cx="256032" cy="82296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2258568"/>
            <a:ext cx="0" cy="603504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3639312"/>
            <a:ext cx="0" cy="182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0" y="1554480"/>
            <a:ext cx="2816352" cy="91440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2971800"/>
            <a:ext cx="0" cy="21031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457200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1565C0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4608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468880" y="457200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00695C"/>
          </a:solidFill>
          <a:ln/>
        </p:spPr>
      </p:sp>
      <p:sp>
        <p:nvSpPr>
          <p:cNvPr id="31" name="Text 28"/>
          <p:cNvSpPr/>
          <p:nvPr/>
        </p:nvSpPr>
        <p:spPr>
          <a:xfrm>
            <a:off x="2468880" y="4608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457200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B71C1C"/>
          </a:solidFill>
          <a:ln/>
        </p:spPr>
      </p:sp>
      <p:sp>
        <p:nvSpPr>
          <p:cNvPr id="33" name="Text 30"/>
          <p:cNvSpPr/>
          <p:nvPr/>
        </p:nvSpPr>
        <p:spPr>
          <a:xfrm>
            <a:off x="4663440" y="4608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58000" y="4572000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37474F"/>
          </a:solidFill>
          <a:ln/>
        </p:spPr>
      </p:sp>
      <p:sp>
        <p:nvSpPr>
          <p:cNvPr id="35" name="Text 32"/>
          <p:cNvSpPr/>
          <p:nvPr/>
        </p:nvSpPr>
        <p:spPr>
          <a:xfrm>
            <a:off x="6858000" y="4608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kiến thức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Manager Android App — Java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51560" y="1920240"/>
            <a:ext cx="3200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key-value đơn giản. Dùng cho: tên user, cài đặt. Persist qua restart.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202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0" y="1920240"/>
            <a:ext cx="3200400" cy="0"/>
          </a:xfrm>
          <a:prstGeom prst="line">
            <a:avLst/>
          </a:prstGeom>
          <a:noFill/>
          <a:ln w="12700">
            <a:solidFill>
              <a:srgbClr val="4A14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0" y="2011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dữ liệu có cấu trúc. Dùng SQLiteOpenHelper. Hỗ trợ CRUD đầy đủ.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310896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118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051560" y="3611880"/>
            <a:ext cx="3200400" cy="0"/>
          </a:xfrm>
          <a:prstGeom prst="line">
            <a:avLst/>
          </a:prstGeom>
          <a:noFill/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5156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truy cập DB qua URI. Chuẩn hóa truy vấn. Dùng ContentResolver ở ngoài.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10896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118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246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0" y="3611880"/>
            <a:ext cx="3200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86400" y="3703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tác vụ nền. Foreground Service cần Notification. Dùng BroadcastReceiver để liên lạc.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vào từng component để xem code chi tiết trong Android Studio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App Development - Note Manager</dc:title>
  <dc:subject>PptxGenJS Presentation</dc:subject>
  <dc:creator>PptxGenJS</dc:creator>
  <cp:lastModifiedBy>PptxGenJS</cp:lastModifiedBy>
  <cp:revision>1</cp:revision>
  <dcterms:created xsi:type="dcterms:W3CDTF">2026-06-09T08:07:38Z</dcterms:created>
  <dcterms:modified xsi:type="dcterms:W3CDTF">2026-06-09T08:07:38Z</dcterms:modified>
</cp:coreProperties>
</file>